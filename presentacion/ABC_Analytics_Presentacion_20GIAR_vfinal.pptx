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1" r:id="rId24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3557"/>
    <a:srgbClr val="F0F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02F56E-AA3F-4B11-92D9-F0B09648A7AC}" v="6" dt="2026-05-06T06:40:58.435"/>
    <p1510:client id="{FA8581D9-EF95-49A1-B1B2-190AF078EC5A}" v="12" dt="2026-05-05T21:29:35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Relationship Id="rId24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camps" userId="a0f7256a69a9d89f" providerId="LiveId" clId="{2947CBA7-7F4B-467A-8114-9EC4BE578D17}"/>
    <pc:docChg chg="undo custSel modSld">
      <pc:chgData name="juan camps" userId="a0f7256a69a9d89f" providerId="LiveId" clId="{2947CBA7-7F4B-467A-8114-9EC4BE578D17}" dt="2026-05-06T06:41:34.695" v="540" actId="207"/>
      <pc:docMkLst>
        <pc:docMk/>
      </pc:docMkLst>
      <pc:sldChg chg="modSp mod">
        <pc:chgData name="juan camps" userId="a0f7256a69a9d89f" providerId="LiveId" clId="{2947CBA7-7F4B-467A-8114-9EC4BE578D17}" dt="2026-05-06T06:37:41.460" v="518" actId="1076"/>
        <pc:sldMkLst>
          <pc:docMk/>
          <pc:sldMk cId="0" sldId="262"/>
        </pc:sldMkLst>
        <pc:spChg chg="mod">
          <ac:chgData name="juan camps" userId="a0f7256a69a9d89f" providerId="LiveId" clId="{2947CBA7-7F4B-467A-8114-9EC4BE578D17}" dt="2026-05-06T06:36:58.415" v="514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uan camps" userId="a0f7256a69a9d89f" providerId="LiveId" clId="{2947CBA7-7F4B-467A-8114-9EC4BE578D17}" dt="2026-05-06T06:37:29.391" v="517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juan camps" userId="a0f7256a69a9d89f" providerId="LiveId" clId="{2947CBA7-7F4B-467A-8114-9EC4BE578D17}" dt="2026-05-06T06:37:41.460" v="518" actId="1076"/>
          <ac:spMkLst>
            <pc:docMk/>
            <pc:sldMk cId="0" sldId="262"/>
            <ac:spMk id="14" creationId="{00000000-0000-0000-0000-000000000000}"/>
          </ac:spMkLst>
        </pc:spChg>
        <pc:graphicFrameChg chg="mod">
          <ac:chgData name="juan camps" userId="a0f7256a69a9d89f" providerId="LiveId" clId="{2947CBA7-7F4B-467A-8114-9EC4BE578D17}" dt="2026-05-06T06:37:05.230" v="515" actId="1076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modSp mod">
        <pc:chgData name="juan camps" userId="a0f7256a69a9d89f" providerId="LiveId" clId="{2947CBA7-7F4B-467A-8114-9EC4BE578D17}" dt="2026-05-05T21:30:40.578" v="310" actId="207"/>
        <pc:sldMkLst>
          <pc:docMk/>
          <pc:sldMk cId="0" sldId="264"/>
        </pc:sldMkLst>
        <pc:spChg chg="mod">
          <ac:chgData name="juan camps" userId="a0f7256a69a9d89f" providerId="LiveId" clId="{2947CBA7-7F4B-467A-8114-9EC4BE578D17}" dt="2026-05-05T21:30:40.578" v="310" actId="207"/>
          <ac:spMkLst>
            <pc:docMk/>
            <pc:sldMk cId="0" sldId="264"/>
            <ac:spMk id="17" creationId="{00000000-0000-0000-0000-000000000000}"/>
          </ac:spMkLst>
        </pc:spChg>
      </pc:sldChg>
      <pc:sldChg chg="modSp mod">
        <pc:chgData name="juan camps" userId="a0f7256a69a9d89f" providerId="LiveId" clId="{2947CBA7-7F4B-467A-8114-9EC4BE578D17}" dt="2026-05-06T06:41:34.695" v="540" actId="207"/>
        <pc:sldMkLst>
          <pc:docMk/>
          <pc:sldMk cId="0" sldId="266"/>
        </pc:sldMkLst>
        <pc:spChg chg="mod">
          <ac:chgData name="juan camps" userId="a0f7256a69a9d89f" providerId="LiveId" clId="{2947CBA7-7F4B-467A-8114-9EC4BE578D17}" dt="2026-05-05T21:27:26.946" v="273" actId="21"/>
          <ac:spMkLst>
            <pc:docMk/>
            <pc:sldMk cId="0" sldId="266"/>
            <ac:spMk id="16" creationId="{00000000-0000-0000-0000-000000000000}"/>
          </ac:spMkLst>
        </pc:spChg>
        <pc:spChg chg="mod">
          <ac:chgData name="juan camps" userId="a0f7256a69a9d89f" providerId="LiveId" clId="{2947CBA7-7F4B-467A-8114-9EC4BE578D17}" dt="2026-05-06T06:40:07.641" v="519" actId="107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juan camps" userId="a0f7256a69a9d89f" providerId="LiveId" clId="{2947CBA7-7F4B-467A-8114-9EC4BE578D17}" dt="2026-05-05T21:27:09.774" v="270" actId="6549"/>
          <ac:spMkLst>
            <pc:docMk/>
            <pc:sldMk cId="0" sldId="266"/>
            <ac:spMk id="24" creationId="{00000000-0000-0000-0000-000000000000}"/>
          </ac:spMkLst>
        </pc:spChg>
        <pc:spChg chg="mod">
          <ac:chgData name="juan camps" userId="a0f7256a69a9d89f" providerId="LiveId" clId="{2947CBA7-7F4B-467A-8114-9EC4BE578D17}" dt="2026-05-06T06:41:34.695" v="540" actId="207"/>
          <ac:spMkLst>
            <pc:docMk/>
            <pc:sldMk cId="0" sldId="266"/>
            <ac:spMk id="25" creationId="{00000000-0000-0000-0000-00000000000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7146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hyperlink" Target="http://abc-analytics-api-juanmonica.spaincentral.azurecontainer.io:8000/doc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abc-analytics-api-juanmonica.spaincentral.azurecontainer.io:8000/health" TargetMode="Externa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457200" cy="5070348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— MIGRACIÓN CLOUD  ·  20GIAR  ·  VIU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Analytics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Cloud de la API de Predicción de Ventas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infraestructura on-premise a Microsoft Azure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3657600" cy="36576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Manuel Campos Enrique  /  Mónica Penacho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Federico Muñoz Babiano  ·  Universidad Internacional de Valencia  ·  Mayo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</a:t>
            </a:r>
            <a:r>
              <a:rPr lang="en-US" sz="1000" dirty="0" err="1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monicapenacho</a:t>
            </a:r>
            <a:r>
              <a:rPr lang="en-US" sz="1000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/sales-prediction-api-migration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EL PROBLEMA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Analytics: los límites del on-premise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743200" cy="64008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Despliegue manual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actualización requería acceso directo al servidor. Horas de trabajo para un cambio de código.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743200" cy="64008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337560" y="16276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Sin escalabilidad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física fija. Picos de demanda = sistema caído. Escalar = comprar hardware.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743200" cy="64008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263640" y="16276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Sin reproducibilidad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214884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dependía de la configuración exacta del servidor. Si fallaba, la restauración era lenta e impredecible.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65760" y="47183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despliegues tardaban horas · errores en producción no detectados · coste fijo elevado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¿POR QUÉ MIGRACIÓN CLOUD?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tres pilares tecnológicos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3840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3840480" cy="38404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cloud (situación actual)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→ modelo manual → copiar al servidor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tests → errores en producción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automatización → proceso propenso a fallos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reproducibilidad → "funciona en mi máquina"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fijo aunque no se use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2834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5029200" y="1508760"/>
            <a:ext cx="3840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5029200" y="1508760"/>
            <a:ext cx="3840480" cy="384048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166360" y="153619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 cloud (solución propuesta)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19659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→ pipeline automático → Azure en minutos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detecta errores antes de producción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garantiza entorno idéntico en cualquier lado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Terraform: infraestructura recreable en 68 segundos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Pay-per-use: ~8.50€/mes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ANTES vs DESPUÉS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 la migración: comparativa directa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63040"/>
          <a:ext cx="8412480" cy="351129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On-Premise (antes)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Azure Cloud (después)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Despliegue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horas de trabajo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Automatizado, minutos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del servidor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garantiza entorno idéntico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deploy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min (pipeline)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Servidores físicos fijos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Definida en código (Terraform)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hardware nuevo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Ajustable en Azure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fijo elevado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~8.50€/mes (pay-per-use)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Detección de errores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producción (tarde)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CI/CD (antes de producción)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ARQUITECTURA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 en Azure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15087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GitHub Repo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· IaC · CI/CD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150876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108960" y="1508760"/>
            <a:ext cx="54864" cy="150876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91840" y="1645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GitHub Actions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039112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lint + tests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CD: build + push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5943600" y="1508760"/>
            <a:ext cx="54864" cy="1508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126480" y="1645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2039112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portable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python:3.11-slim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24612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54864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ACR (Azure)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776472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privado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imágenes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8960" y="324612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108960" y="3246120"/>
            <a:ext cx="54864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9184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ACI (Azure)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91840" y="3776472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contenedor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pública puerto 8000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324612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5943600" y="3246120"/>
            <a:ext cx="54864" cy="15087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12648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Terraform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26480" y="3776472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IaC: Resource Group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Container Instance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07208" y="208483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641848" y="208483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807208" y="37947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641848" y="37947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FLUJO END-TO-END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código a producción en Azure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" y="1508760"/>
            <a:ext cx="1078992" cy="100584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37160" y="1581912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2011680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16152" y="1874520"/>
            <a:ext cx="182880" cy="73152"/>
          </a:xfrm>
          <a:prstGeom prst="rect">
            <a:avLst/>
          </a:prstGeom>
          <a:solidFill>
            <a:srgbClr val="4DB6D0"/>
          </a:solidFill>
          <a:ln w="12700">
            <a:solidFill>
              <a:srgbClr val="4DB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289304" y="178308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17320" y="1508760"/>
            <a:ext cx="1078992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417320" y="1581912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2011680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96312" y="1874520"/>
            <a:ext cx="182880" cy="73152"/>
          </a:xfrm>
          <a:prstGeom prst="rect">
            <a:avLst/>
          </a:prstGeom>
          <a:solidFill>
            <a:srgbClr val="4DB6D0"/>
          </a:solidFill>
          <a:ln w="12700">
            <a:solidFill>
              <a:srgbClr val="4DB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569464" y="178308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97480" y="1508760"/>
            <a:ext cx="1078992" cy="10058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697480" y="1581912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2011680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tests · build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76472" y="1874520"/>
            <a:ext cx="182880" cy="73152"/>
          </a:xfrm>
          <a:prstGeom prst="rect">
            <a:avLst/>
          </a:prstGeom>
          <a:solidFill>
            <a:srgbClr val="4DB6D0"/>
          </a:solidFill>
          <a:ln w="12700">
            <a:solidFill>
              <a:srgbClr val="4DB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849624" y="178308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77640" y="1508760"/>
            <a:ext cx="1078992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977640" y="1581912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77640" y="2011680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56632" y="1874520"/>
            <a:ext cx="182880" cy="73152"/>
          </a:xfrm>
          <a:prstGeom prst="rect">
            <a:avLst/>
          </a:prstGeom>
          <a:solidFill>
            <a:srgbClr val="4DB6D0"/>
          </a:solidFill>
          <a:ln w="12700">
            <a:solidFill>
              <a:srgbClr val="4DB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129784" y="178308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57800" y="1508760"/>
            <a:ext cx="1078992" cy="10058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257800" y="1581912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011680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36792" y="1874520"/>
            <a:ext cx="182880" cy="73152"/>
          </a:xfrm>
          <a:prstGeom prst="rect">
            <a:avLst/>
          </a:prstGeom>
          <a:solidFill>
            <a:srgbClr val="4DB6D0"/>
          </a:solidFill>
          <a:ln w="12700">
            <a:solidFill>
              <a:srgbClr val="4DB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409944" y="178308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37960" y="1508760"/>
            <a:ext cx="10789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537960" y="1581912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ACI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2011680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616952" y="1874520"/>
            <a:ext cx="182880" cy="73152"/>
          </a:xfrm>
          <a:prstGeom prst="rect">
            <a:avLst/>
          </a:prstGeom>
          <a:solidFill>
            <a:srgbClr val="4DB6D0"/>
          </a:solidFill>
          <a:ln w="12700">
            <a:solidFill>
              <a:srgbClr val="4DB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7690104" y="178308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18120" y="1508760"/>
            <a:ext cx="1078992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7818120" y="1581912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818120" y="2011680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/health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37160" y="265176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push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el pipeline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417320" y="265176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única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verdad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697480" y="265176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CI pasa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activa CD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977640" y="265176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privada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57800" y="265176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IaC: 68 seg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37960" y="265176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ejecución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818120" y="265176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accesible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públicamente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3474720"/>
            <a:ext cx="8595360" cy="1417320"/>
          </a:xfrm>
          <a:prstGeom prst="rect">
            <a:avLst/>
          </a:prstGeom>
          <a:solidFill>
            <a:srgbClr val="1C3557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45720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detallado: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38862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 — CI (todas las ramas):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(lint) → pytest (tests) → cobertura ≥ 70%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 — CD (solo main, solo si CI pasa):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→ docker tag → docker push → ACR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480560" y="3566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Garantía: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480560" y="3886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código llega a Azure sin pasar validación automática de calidad. Si el lint o los tests fallan, el despliegue no se activa.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LA API — FastAPI + Python 3.11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predicción de ventas: diseño y endpoints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60604" y="126433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disponibles: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357587"/>
              </p:ext>
            </p:extLst>
          </p:nvPr>
        </p:nvGraphicFramePr>
        <p:xfrm>
          <a:off x="274320" y="1554480"/>
          <a:ext cx="5029200" cy="20116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funcionando · devuelve versión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 · {"status": "ok"}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/predict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Predicción de ventas con confianza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5440680" y="1481328"/>
            <a:ext cx="3520440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577840" y="157276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📤  POST /predict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77840" y="192024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"product"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 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"ProductoA"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"base_sales"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 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1000.0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"month"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 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77840" y="32461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📥  Response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77840" y="3547872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"predicted_sales"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 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1187.43
</a:t>
            </a: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"confidence"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 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0.87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0604" y="3200400"/>
            <a:ext cx="5029200" cy="767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FastAPI: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728" y="3694176"/>
            <a:ext cx="5753686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automático en /docs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tipos con Pydantic sin configuración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rápido que Flask; menos verboso que Django REST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Logs estructurados para observabilidad </a:t>
            </a:r>
            <a:r>
              <a:rPr lang="en-US" sz="1200" dirty="0" err="1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Azure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http://abc-analytics-api-juanmonica.spaincentral.azurecontainer.io:8000/docs</a:t>
            </a:r>
            <a:endParaRPr lang="en-US" sz="1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DOCKER — CONTAINERIZACIÓN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el corazón de la reproducibilidad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114800" cy="54864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Docker?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"Funciona en mi máquina" → ya no es un problema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idéntico: dev · CI/CD · Azure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python:3.11-slim → imagen ligera y segura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integrado en el Dockerfile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inyectada por variable de entorno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del sector para microservicios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343400" cy="3337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709160" y="1600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9659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python:3.11-slim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21671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236829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/app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256946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requirements.txt 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77063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pip install -r requirements.txt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9718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. 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31729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33741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APP_VERSION=1.0.0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35753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8000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77647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--interval=30s \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397764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CMD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curl -f /health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417880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437997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["uvicorn", "app.main:app"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45811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"--host", "0.0.0.0"]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D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sales-api .   →   docker run -p 8000:8000 sales-api   →   curl localhost:8000/health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CI/CD — GITHUB ACTIONS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automatizado: calidad antes de producción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023360" cy="41148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 — CI (Integración Continua)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push a CUALQUIER rama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→ análisis estático de código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→ ejecución de 7 tests unitarios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pytest-cov → cobertura mínima: 70%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obtenido: 75% ✅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 → pipeline se detiene aquí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27432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25112" y="3291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92040" y="15087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892040" y="1508760"/>
            <a:ext cx="4023360" cy="41148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029200" y="1536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 — CD (Despliegue Continuo)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1965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push a rama MAIN + CI aprobado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286000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en Azure Container Registry (ACR)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→ imagen con SHA del commit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push → imagen al registro privado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en GitHub Secrets (nunca en código)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lista para Terraform apply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s-ES" sz="1300" dirty="0">
                <a:solidFill>
                  <a:srgbClr val="1C3557"/>
                </a:solidFill>
              </a:rPr>
              <a:t>https://github.com/monicapenacho/sales-prediction-api-migration/actions</a:t>
            </a:r>
            <a:endParaRPr lang="en-US" sz="1300" dirty="0">
              <a:solidFill>
                <a:srgbClr val="1C3557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Separar CI y CD garantiza que el código de cualquier rama se valida, pero solo main llega a producción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TERRAFORM — INFRAESTRUCTURA COMO CÓDIGO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Terraform: la infraestructura como código reproducible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502920" cy="82296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4320" y="1536192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60120" y="15819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init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el provider azurerm ~&gt; 3.0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configura el backend de estado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502920" cy="82296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74320" y="2633472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" y="2633472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60120" y="2679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plan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0175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qué recursos se van a crear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modificar nada en Azure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30752"/>
            <a:ext cx="502920" cy="82296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74320" y="3730752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22960" y="3730752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960120" y="37764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114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Resource Group + ACI en Azure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~68 segundos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74920" y="1508760"/>
            <a:ext cx="3840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5074920" y="1508760"/>
            <a:ext cx="3840480" cy="38404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212080" y="153619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desplegados en Azure: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1938528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Resource Group: rg-abc-analytics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Container Instance: sales-prediction-api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Región: Spain Central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Puerto: 8000 (TCP, IP pública)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Restart policy: Always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74920" y="3611880"/>
            <a:ext cx="384048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212080" y="3657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Valor clave de IaC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400507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borramos toda la infraestructura por accidente, la recuperamos completa en 68 segundos con un único comando. Eso es reproducibilidad.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4846320"/>
            <a:ext cx="8595360" cy="2468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65760" y="4855464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estimado: ACI ~3.50€/mes  ·  ACR ~5€/mes  ·  Total: ~8.50€/mes  (Azure Students: 100€ crédito gratuito)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DEMO — EN VIVO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vivo: la API funcionando en Azure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475488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Pipeline en verde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2029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Abrir GitHub Actions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4505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Mostrar historial de runs 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8712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Mostrar jobs CI + CD separados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3291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 de tests: 7 PASSED, 75% coverage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74320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91840" y="14813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API en Azure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2029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Abrir portal Azure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24505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Container Instance: Running 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28712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IP pública visible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291840"/>
            <a:ext cx="290779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217920" y="14813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Swagger UI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6208" y="2029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Navegar a /docs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24505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Probar POST /predict en vivo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6208" y="28712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Mostrar request + response JSON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3291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Mostrar GET /health → {"status":"ok"}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2880" y="3867912"/>
            <a:ext cx="8595360" cy="1051560"/>
          </a:xfrm>
          <a:prstGeom prst="rect">
            <a:avLst/>
          </a:prstGeom>
          <a:solidFill>
            <a:srgbClr val="1C355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57200" y="39044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⚠️  </a:t>
            </a:r>
            <a:r>
              <a:rPr lang="en-US" sz="1200" b="1" dirty="0" err="1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s-ES" sz="1100" dirty="0">
                <a:solidFill>
                  <a:srgbClr val="F0F6FA"/>
                </a:solidFill>
              </a:rPr>
              <a:t>https://github.com/monicapenacho/sales-prediction-api-migration/actions</a:t>
            </a:r>
            <a:endParaRPr lang="en-US" sz="1100" dirty="0">
              <a:solidFill>
                <a:srgbClr val="F0F6FA"/>
              </a:solidFill>
            </a:endParaRPr>
          </a:p>
          <a:p>
            <a:pPr marL="342900" indent="-342900">
              <a:spcAft>
                <a:spcPts val="200"/>
              </a:spcAft>
              <a:buSzPct val="100000"/>
              <a:buFontTx/>
              <a:buChar char="•"/>
            </a:pPr>
            <a:r>
              <a:rPr lang="es-ES" sz="11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http://abc-analytics-api-juanmonica.spaincentral.azurecontainer.io:8000/docs</a:t>
            </a:r>
            <a:endParaRPr lang="es-ES" sz="11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200"/>
              </a:spcAft>
              <a:buSzPct val="100000"/>
              <a:buFontTx/>
              <a:buChar char="•"/>
            </a:pPr>
            <a:r>
              <a:rPr lang="es-ES" sz="11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http://abc-analytics-api-juanmonica.spaincentral.azurecontainer.io:8000/health</a:t>
            </a:r>
            <a:r>
              <a:rPr lang="es-ES" sz="1100" dirty="0">
                <a:solidFill>
                  <a:schemeClr val="bg1"/>
                </a:solidFill>
              </a:rPr>
              <a:t xml:space="preserve"> (Swagger UI)	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RESULTADOS Y MÉTRICAS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objetivos cumplidos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1965960" cy="54864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74320" y="23317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tests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6700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≥70% 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50876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450592" y="1508760"/>
            <a:ext cx="196596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450592" y="16002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450592" y="23317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en verde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50592" y="26700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unittest + integración 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50876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626864" y="1508760"/>
            <a:ext cx="1965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26864" y="16002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626864" y="23317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26864" y="26700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completa 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150876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6803136" y="150876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803136" y="16002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~8.5€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803136" y="23317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Coste/mes Azure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03136" y="26700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 + ACR ✅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91840"/>
          <a:ext cx="8595360" cy="208483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CI/CD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 en cada 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apply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120 segundos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~68 segundos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Contenedor Azure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+ IP pública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Spain Central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Documentación Swagger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Disponible en /docs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Automática FastAPI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PROBLEMAS Y SOLUCIONES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problemas reales: cómo los resolvimos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54864" cy="5486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75488" y="158191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AWS Educate no da acceso a infraestructura real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4069080" cy="548640"/>
          </a:xfrm>
          <a:prstGeom prst="rect">
            <a:avLst/>
          </a:prstGeom>
          <a:solidFill>
            <a:srgbClr val="EFF6FF"/>
          </a:solidFill>
          <a:ln w="10160">
            <a:solidFill>
              <a:srgbClr val="1A7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910328" y="158191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Migración a Azure Students (100€ crédito universitario)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185416"/>
            <a:ext cx="54864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75488" y="225856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Terraform: error de permisos en provider azurerm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9120" y="2276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00600" y="2185416"/>
            <a:ext cx="4069080" cy="548640"/>
          </a:xfrm>
          <a:prstGeom prst="rect">
            <a:avLst/>
          </a:prstGeom>
          <a:solidFill>
            <a:srgbClr val="EFF6FF"/>
          </a:solidFill>
          <a:ln w="10160">
            <a:solidFill>
              <a:srgbClr val="1A7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910328" y="22585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skip_provider_registration = true en main.tf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2862072"/>
            <a:ext cx="54864" cy="5486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65760" y="2862072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75488" y="293522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Conflicto de nombre DNS en Azure (nombre ya en uso)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89120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800600" y="2862072"/>
            <a:ext cx="4069080" cy="548640"/>
          </a:xfrm>
          <a:prstGeom prst="rect">
            <a:avLst/>
          </a:prstGeom>
          <a:solidFill>
            <a:srgbClr val="EFF6FF"/>
          </a:solidFill>
          <a:ln w="10160">
            <a:solidFill>
              <a:srgbClr val="1A7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910328" y="293522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terraform plan detectó el conflicto → cambiar dns_name_label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538728"/>
            <a:ext cx="54864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65760" y="3538728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75488" y="361188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ModuleNotFoundError en tests del pipeline CI/CD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89120" y="3630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00600" y="3538728"/>
            <a:ext cx="4069080" cy="548640"/>
          </a:xfrm>
          <a:prstGeom prst="rect">
            <a:avLst/>
          </a:prstGeom>
          <a:solidFill>
            <a:srgbClr val="EFF6FF"/>
          </a:solidFill>
          <a:ln w="10160">
            <a:solidFill>
              <a:srgbClr val="1A7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910328" y="36118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Añadir __init__.py + configurar PYTHONPATH en el workflow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4215384"/>
            <a:ext cx="54864" cy="548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365760" y="4215384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75488" y="42885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ruff fallaba con notebooks y archivos especiales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389120" y="43068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800600" y="4215384"/>
            <a:ext cx="4069080" cy="548640"/>
          </a:xfrm>
          <a:prstGeom prst="rect">
            <a:avLst/>
          </a:prstGeom>
          <a:solidFill>
            <a:srgbClr val="EFF6FF"/>
          </a:solidFill>
          <a:ln w="10160">
            <a:solidFill>
              <a:srgbClr val="1A7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910328" y="428853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Acotar análisis explícitamente a app/ y tests/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Los errores son parte del aprendizaje real — documentarlos demuestra comprensión técnica profunda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METODOLOGÍA ÁGIL — SCRUM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Scrum: 3 sprints, entrega incremental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08760"/>
          <a:ext cx="8595360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FastAPI + Docker +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US-01, US-02, US-03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+ Cobertura ≥ 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US-04, US-05, US-06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+ Azure + 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US-07, US-08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En curso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743200"/>
            <a:ext cx="40233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274320" y="2743200"/>
            <a:ext cx="4023360" cy="384048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411480" y="27706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Qué funcionó bien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3172968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en todas las ramas → errores detectados temprano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→ priorización clara de entregables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→ integración rápida entre miembros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0" y="2743200"/>
            <a:ext cx="42976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572000" y="2743200"/>
            <a:ext cx="4297680" cy="38404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4709160" y="277063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Qué mejoraríamos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09160" y="3172968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GitHub Secrets en el Sprint 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Rules desde el inicio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environment antes de producción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CONCLUSIONES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hemos demostrado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75488" cy="64008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475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149047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Terraform hace la infraestructura reproducible: recrear el entorno completo en Azure tarda 68 segundos con un único comando.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221992"/>
            <a:ext cx="475488" cy="64008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74320" y="2221992"/>
            <a:ext cx="475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1248" y="2295144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El pipeline CI/CD detecta errores automáticamente antes de producción: ningún código defectuoso llegó a Azure durante el proyecto.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026664"/>
            <a:ext cx="475488" cy="64008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74320" y="3026664"/>
            <a:ext cx="475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1248" y="3099816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elimina el problema del entorno: la API funciona igual en local, en CI/CD y en Azure Container Instances.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831336"/>
            <a:ext cx="475488" cy="64008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74320" y="3831336"/>
            <a:ext cx="475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" y="390448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Scrum permitió organizar el trabajo con objetivos claros por sprint y detectar impedimentos técnicos antes de que bloquearan el proyecto.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monicapenacho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/sales-prediction-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-migration  ·  Juan Manuel Campos / Mónica Penacho  ·  20GIAR VIU 2026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A0"/>
          </a:solidFill>
          <a:ln w="12700">
            <a:solidFill>
              <a:srgbClr val="1A7FA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s-ES" sz="1400" b="1" dirty="0">
                <a:solidFill>
                  <a:srgbClr val="FFFFFF"/>
                </a:solidFill>
                <a:latin typeface="Calibri" pitchFamily="34" charset="0"/>
              </a:rPr>
              <a:t>05 / ANÁLISIS DE PORTAFOLIO</a:t>
            </a: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274320" y="700000"/>
            <a:ext cx="8595360" cy="39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s-ES" sz="1800" b="1" dirty="0">
                <a:solidFill>
                  <a:srgbClr val="1A7FA0"/>
                </a:solidFill>
                <a:latin typeface="Calibri" pitchFamily="34" charset="0"/>
              </a:rPr>
              <a:t>Estrategia de migración cloud (6R) — Wave Planning</a:t>
            </a:r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150000" y="1150000"/>
          <a:ext cx="8844000" cy="3820000"/>
        </p:xfrm>
        <a:graphic>
          <a:graphicData uri="http://schemas.openxmlformats.org/drawingml/2006/table">
            <a:tbl>
              <a:tblPr/>
              <a:tblGrid>
                <a:gridCol w="1450000"/>
                <a:gridCol w="1750000"/>
                <a:gridCol w="1744000"/>
                <a:gridCol w="2000000"/>
                <a:gridCol w="1900000"/>
              </a:tblGrid>
              <a:tr h="490000"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Estrategia</a:t>
                      </a:r>
                    </a:p>
                  </a:txBody>
                  <a:tcPr>
                    <a:lnL w="9525">
                      <a:solidFill>
                        <a:srgbClr val="1C3557"/>
                      </a:solidFill>
                      <a:prstDash val="solid"/>
                    </a:lnL>
                    <a:lnR w="9525">
                      <a:solidFill>
                        <a:srgbClr val="1C3557"/>
                      </a:solidFill>
                      <a:prstDash val="solid"/>
                    </a:lnR>
                    <a:lnT w="9525">
                      <a:solidFill>
                        <a:srgbClr val="1C3557"/>
                      </a:solidFill>
                      <a:prstDash val="solid"/>
                    </a:lnT>
                    <a:lnB w="9525">
                      <a:solidFill>
                        <a:srgbClr val="1C3557"/>
                      </a:solidFill>
                      <a:prstDash val="soli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Aplicación</a:t>
                      </a:r>
                    </a:p>
                  </a:txBody>
                  <a:tcPr>
                    <a:lnL w="9525">
                      <a:solidFill>
                        <a:srgbClr val="1C3557"/>
                      </a:solidFill>
                      <a:prstDash val="solid"/>
                    </a:lnL>
                    <a:lnR w="9525">
                      <a:solidFill>
                        <a:srgbClr val="1C3557"/>
                      </a:solidFill>
                      <a:prstDash val="solid"/>
                    </a:lnR>
                    <a:lnT w="9525">
                      <a:solidFill>
                        <a:srgbClr val="1C3557"/>
                      </a:solidFill>
                      <a:prstDash val="solid"/>
                    </a:lnT>
                    <a:lnB w="9525">
                      <a:solidFill>
                        <a:srgbClr val="1C3557"/>
                      </a:solidFill>
                      <a:prstDash val="soli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Tecnología</a:t>
                      </a:r>
                    </a:p>
                  </a:txBody>
                  <a:tcPr>
                    <a:lnL w="9525">
                      <a:solidFill>
                        <a:srgbClr val="1C3557"/>
                      </a:solidFill>
                      <a:prstDash val="solid"/>
                    </a:lnL>
                    <a:lnR w="9525">
                      <a:solidFill>
                        <a:srgbClr val="1C3557"/>
                      </a:solidFill>
                      <a:prstDash val="solid"/>
                    </a:lnR>
                    <a:lnT w="9525">
                      <a:solidFill>
                        <a:srgbClr val="1C3557"/>
                      </a:solidFill>
                      <a:prstDash val="solid"/>
                    </a:lnT>
                    <a:lnB w="9525">
                      <a:solidFill>
                        <a:srgbClr val="1C3557"/>
                      </a:solidFill>
                      <a:prstDash val="soli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Acción clave</a:t>
                      </a:r>
                    </a:p>
                  </a:txBody>
                  <a:tcPr>
                    <a:lnL w="9525">
                      <a:solidFill>
                        <a:srgbClr val="1C3557"/>
                      </a:solidFill>
                      <a:prstDash val="solid"/>
                    </a:lnL>
                    <a:lnR w="9525">
                      <a:solidFill>
                        <a:srgbClr val="1C3557"/>
                      </a:solidFill>
                      <a:prstDash val="solid"/>
                    </a:lnR>
                    <a:lnT w="9525">
                      <a:solidFill>
                        <a:srgbClr val="1C3557"/>
                      </a:solidFill>
                      <a:prstDash val="solid"/>
                    </a:lnT>
                    <a:lnB w="9525">
                      <a:solidFill>
                        <a:srgbClr val="1C3557"/>
                      </a:solidFill>
                      <a:prstDash val="soli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Wave</a:t>
                      </a:r>
                    </a:p>
                  </a:txBody>
                  <a:tcPr>
                    <a:lnL w="9525">
                      <a:solidFill>
                        <a:srgbClr val="1C3557"/>
                      </a:solidFill>
                      <a:prstDash val="solid"/>
                    </a:lnL>
                    <a:lnR w="9525">
                      <a:solidFill>
                        <a:srgbClr val="1C3557"/>
                      </a:solidFill>
                      <a:prstDash val="solid"/>
                    </a:lnR>
                    <a:lnT w="9525">
                      <a:solidFill>
                        <a:srgbClr val="1C3557"/>
                      </a:solidFill>
                      <a:prstDash val="solid"/>
                    </a:lnT>
                    <a:lnB w="9525">
                      <a:solidFill>
                        <a:srgbClr val="1C3557"/>
                      </a:solidFill>
                      <a:prstDash val="solid"/>
                    </a:lnB>
                    <a:solidFill>
                      <a:srgbClr val="1C3557"/>
                    </a:solidFill>
                  </a:tcPr>
                </a:tc>
              </a:tr>
              <a:tr h="665000"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🟢 REPLATFORM</a:t>
                      </a:r>
                    </a:p>
                  </a:txBody>
                  <a:tcPr>
                    <a:lnL w="9525">
                      <a:solidFill>
                        <a:srgbClr val="1B5E20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100" b="1" dirty="0">
                          <a:solidFill>
                            <a:srgbClr val="1B5E20"/>
                          </a:solidFill>
                          <a:latin typeface="Calibri" pitchFamily="34" charset="0"/>
                        </a:rPr>
                        <a:t>Sales Prediction API</a:t>
                      </a:r>
                    </a:p>
                    <a:p>
                      <a:r>
                        <a:rPr lang="es-ES" sz="900" dirty="0">
                          <a:solidFill>
                            <a:srgbClr val="1C3557"/>
                          </a:solidFill>
                          <a:latin typeface="Calibri" pitchFamily="34" charset="0"/>
                        </a:rPr>
                        <a:t>✔️ Se implementa aquí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>
                          <a:solidFill>
                            <a:srgbClr val="1C3557"/>
                          </a:solidFill>
                          <a:latin typeface="Calibri" pitchFamily="34" charset="0"/>
                        </a:rPr>
                        <a:t>Python 3.11 · FastAPI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>
                          <a:solidFill>
                            <a:srgbClr val="1C3557"/>
                          </a:solidFill>
                          <a:latin typeface="Calibri" pitchFamily="34" charset="0"/>
                        </a:rPr>
                        <a:t>Docker · ACR · ACI · GitHub Actions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solidFill>
                            <a:srgbClr val="1B5E20"/>
                          </a:solidFill>
                          <a:latin typeface="Calibri" pitchFamily="34" charset="0"/>
                        </a:rPr>
                        <a:t>🌊 Wave 1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EAF4FA"/>
                    </a:solidFill>
                  </a:tcPr>
                </a:tc>
              </a:tr>
              <a:tr h="566250"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🟣 REPURCHASE</a:t>
                      </a:r>
                    </a:p>
                  </a:txBody>
                  <a:tcPr>
                    <a:lnL w="9525">
                      <a:solidFill>
                        <a:srgbClr val="1A7FA0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1A7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100" b="1" dirty="0">
                          <a:solidFill>
                            <a:srgbClr val="1C3557"/>
                          </a:solidFill>
                          <a:latin typeface="Calibri" pitchFamily="34" charset="0"/>
                        </a:rPr>
                        <a:t>Dashboard KPIs Retail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>
                          <a:solidFill>
                            <a:srgbClr val="1C3557"/>
                          </a:solidFill>
                          <a:latin typeface="Calibri" pitchFamily="34" charset="0"/>
                        </a:rPr>
                        <a:t>Tableau on-premise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>
                          <a:solidFill>
                            <a:srgbClr val="1C3557"/>
                          </a:solidFill>
                          <a:latin typeface="Calibri" pitchFamily="34" charset="0"/>
                        </a:rPr>
                        <a:t>Evaluar Power BI / Tableau Cloud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solidFill>
                            <a:srgbClr val="1A7FA0"/>
                          </a:solidFill>
                          <a:latin typeface="Calibri" pitchFamily="34" charset="0"/>
                        </a:rPr>
                        <a:t>🌊 Wave 1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250"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🔴 RETIRE</a:t>
                      </a:r>
                    </a:p>
                  </a:txBody>
                  <a:tcPr>
                    <a:lnL w="9525">
                      <a:solidFill>
                        <a:srgbClr val="B71C1C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100" b="1" dirty="0">
                          <a:solidFill>
                            <a:srgbClr val="1C3557"/>
                          </a:solidFill>
                          <a:latin typeface="Calibri" pitchFamily="34" charset="0"/>
                        </a:rPr>
                        <a:t>Reportes Legacy Clientes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>
                          <a:solidFill>
                            <a:srgbClr val="1C3557"/>
                          </a:solidFill>
                          <a:latin typeface="Calibri" pitchFamily="34" charset="0"/>
                        </a:rPr>
                        <a:t>Crystal Reports · Win Server 2008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>
                          <a:solidFill>
                            <a:srgbClr val="1C3557"/>
                          </a:solidFill>
                          <a:latin typeface="Calibri" pitchFamily="34" charset="0"/>
                        </a:rPr>
                        <a:t>App obsoleta · solo 4 usuarios/mes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solidFill>
                            <a:srgbClr val="B71C1C"/>
                          </a:solidFill>
                          <a:latin typeface="Calibri" pitchFamily="34" charset="0"/>
                        </a:rPr>
                        <a:t>🌊 Wave 1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EAF4FA"/>
                    </a:solidFill>
                  </a:tcPr>
                </a:tc>
              </a:tr>
              <a:tr h="566250"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🟡 REHOST</a:t>
                      </a:r>
                    </a:p>
                  </a:txBody>
                  <a:tcPr>
                    <a:lnL w="9525">
                      <a:solidFill>
                        <a:srgbClr val="4DB6D0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4DB6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100" b="1" dirty="0">
                          <a:solidFill>
                            <a:srgbClr val="1C3557"/>
                          </a:solidFill>
                          <a:latin typeface="Calibri" pitchFamily="34" charset="0"/>
                        </a:rPr>
                        <a:t>ETL Nocturno de Ventas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>
                          <a:solidFill>
                            <a:srgbClr val="1C3557"/>
                          </a:solidFill>
                          <a:latin typeface="Calibri" pitchFamily="34" charset="0"/>
                        </a:rPr>
                        <a:t>Python · PostgreSQL 12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>
                          <a:solidFill>
                            <a:srgbClr val="1C3557"/>
                          </a:solidFill>
                          <a:latin typeface="Calibri" pitchFamily="34" charset="0"/>
                        </a:rPr>
                        <a:t>Azure VM + Postgres Flexible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solidFill>
                            <a:srgbClr val="4DB6D0"/>
                          </a:solidFill>
                          <a:latin typeface="Calibri" pitchFamily="34" charset="0"/>
                        </a:rPr>
                        <a:t>🌊 Wave 2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250"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🟠 RETAIN</a:t>
                      </a:r>
                    </a:p>
                  </a:txBody>
                  <a:tcPr>
                    <a:lnL w="9525">
                      <a:solidFill>
                        <a:srgbClr val="1C3557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100" b="1" dirty="0">
                          <a:solidFill>
                            <a:srgbClr val="1C3557"/>
                          </a:solidFill>
                          <a:latin typeface="Calibri" pitchFamily="34" charset="0"/>
                        </a:rPr>
                        <a:t>Modelo Scoring Clientes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>
                          <a:solidFill>
                            <a:srgbClr val="1C3557"/>
                          </a:solidFill>
                          <a:latin typeface="Calibri" pitchFamily="34" charset="0"/>
                        </a:rPr>
                        <a:t>R 3.6 · SQL Server 2012 (EOL)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>
                          <a:solidFill>
                            <a:srgbClr val="1C3557"/>
                          </a:solidFill>
                          <a:latin typeface="Calibri" pitchFamily="34" charset="0"/>
                        </a:rPr>
                        <a:t>Alta criticidad → migrar en Wave 3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solidFill>
                            <a:srgbClr val="1C3557"/>
                          </a:solidFill>
                          <a:latin typeface="Calibri" pitchFamily="34" charset="0"/>
                        </a:rPr>
                        <a:t>🌊 Wave 3</a:t>
                      </a:r>
                    </a:p>
                  </a:txBody>
                  <a:tcPr>
                    <a:lnL w="9525">
                      <a:solidFill>
                        <a:srgbClr val="C5DDE8"/>
                      </a:solidFill>
                      <a:prstDash val="solid"/>
                    </a:lnL>
                    <a:lnR w="9525">
                      <a:solidFill>
                        <a:srgbClr val="C5DDE8"/>
                      </a:solidFill>
                      <a:prstDash val="solid"/>
                    </a:lnR>
                    <a:lnT w="9525">
                      <a:solidFill>
                        <a:srgbClr val="C5DDE8"/>
                      </a:solidFill>
                      <a:prstDash val="solid"/>
                    </a:lnT>
                    <a:lnB w="9525">
                      <a:solidFill>
                        <a:srgbClr val="C5DDE8"/>
                      </a:solidFill>
                      <a:prstDash val="solid"/>
                    </a:lnB>
                    <a:solidFill>
                      <a:srgbClr val="EAF4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>
            <a:spLocks noGrp="1"/>
          </p:cNvSpPr>
          <p:nvPr/>
        </p:nvSpPr>
        <p:spPr>
          <a:xfrm>
            <a:off x="150000" y="5020000"/>
            <a:ext cx="8844000" cy="105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s-ES" sz="800" i="1" dirty="0">
                <a:solidFill>
                  <a:srgbClr val="1A7FA0"/>
                </a:solidFill>
                <a:latin typeface="Calibri" pitchFamily="34" charset="0"/>
              </a:rPr>
              <a:t>📔 Análisis detallado: github.com/monicapenacho/sales-prediction-api-migration/blob/main/portfolio/Portfolio_ABC_Analysis.ipynb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B43B9DA-22D7-425E-9EAD-185364E1E20E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b872534-9f0d-46d6-a9a3-9be42a653cd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1786</Words>
  <Application>Microsoft Office PowerPoint</Application>
  <PresentationFormat>Presentación en pantalla (16:9)</PresentationFormat>
  <Paragraphs>346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 Analytics — Migración Cloud</dc:title>
  <dc:subject>PptxGenJS Presentation</dc:subject>
  <dc:creator>Juan Manuel Campos / Mónica Penacho</dc:creator>
  <cp:lastModifiedBy>juan camps</cp:lastModifiedBy>
  <cp:revision>2</cp:revision>
  <dcterms:created xsi:type="dcterms:W3CDTF">2026-05-05T20:01:47Z</dcterms:created>
  <dcterms:modified xsi:type="dcterms:W3CDTF">2026-05-06T06:41:35Z</dcterms:modified>
</cp:coreProperties>
</file>